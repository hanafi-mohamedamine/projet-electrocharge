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1778C-8957-4A92-A8F0-08E03B34C62E}" v="13" dt="2026-05-09T13:06:20.565"/>
    <p1510:client id="{F45937E3-B719-4DF4-AE3A-F9397704B7C6}" v="24" dt="2026-05-08T14:02:35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09/05/2026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340099"/>
          </a:xfrm>
        </p:spPr>
        <p:txBody>
          <a:bodyPr>
            <a:normAutofit/>
          </a:bodyPr>
          <a:lstStyle/>
          <a:p>
            <a:endParaRPr lang="fr-FR" sz="3200" b="1" u="sng" dirty="0">
              <a:solidFill>
                <a:schemeClr val="bg1"/>
              </a:solidFill>
              <a:latin typeface="Segoe UI"/>
              <a:cs typeface="Segoe UI"/>
            </a:endParaRPr>
          </a:p>
          <a:p>
            <a:endParaRPr lang="fr-FR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Image 3" descr="Une image contenant voiture, Pièce auto, pneu, électroménager">
            <a:extLst>
              <a:ext uri="{FF2B5EF4-FFF2-40B4-BE49-F238E27FC236}">
                <a16:creationId xmlns:a16="http://schemas.microsoft.com/office/drawing/2014/main" id="{4821EC73-2285-2239-8B3B-0A33E4EB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774" y="884143"/>
            <a:ext cx="5847179" cy="4941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0F2413A-FA31-BF50-E615-6620321E900E}"/>
              </a:ext>
            </a:extLst>
          </p:cNvPr>
          <p:cNvSpPr txBox="1"/>
          <p:nvPr/>
        </p:nvSpPr>
        <p:spPr>
          <a:xfrm>
            <a:off x="2642259" y="221672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3466775-9946-FFC0-794B-480A0E5083EA}"/>
              </a:ext>
            </a:extLst>
          </p:cNvPr>
          <p:cNvSpPr txBox="1"/>
          <p:nvPr/>
        </p:nvSpPr>
        <p:spPr>
          <a:xfrm>
            <a:off x="2503714" y="2355272"/>
            <a:ext cx="168233" cy="197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F9D865-DE72-225A-80C2-EAFE1CBBE606}"/>
              </a:ext>
            </a:extLst>
          </p:cNvPr>
          <p:cNvSpPr txBox="1"/>
          <p:nvPr/>
        </p:nvSpPr>
        <p:spPr>
          <a:xfrm>
            <a:off x="2642259" y="2365168"/>
            <a:ext cx="959922" cy="148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251F599-F907-B019-9F8E-89AC3A81218C}"/>
              </a:ext>
            </a:extLst>
          </p:cNvPr>
          <p:cNvSpPr txBox="1"/>
          <p:nvPr/>
        </p:nvSpPr>
        <p:spPr>
          <a:xfrm>
            <a:off x="1365662" y="4463143"/>
            <a:ext cx="3364675" cy="18406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E490F1-7976-5B9F-7FAB-2DBC9A9BFBF6}"/>
              </a:ext>
            </a:extLst>
          </p:cNvPr>
          <p:cNvSpPr txBox="1"/>
          <p:nvPr/>
        </p:nvSpPr>
        <p:spPr>
          <a:xfrm>
            <a:off x="-84117" y="6003224"/>
            <a:ext cx="62741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solidFill>
                  <a:srgbClr val="FFFF00"/>
                </a:solidFill>
                <a:ea typeface="+mn-lt"/>
                <a:cs typeface="+mn-lt"/>
              </a:rPr>
              <a:t>Présenté par :</a:t>
            </a:r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 Hanafi Mohamed Amine</a:t>
            </a:r>
          </a:p>
          <a:p>
            <a:r>
              <a:rPr lang="fr-FR" dirty="0">
                <a:solidFill>
                  <a:srgbClr val="FFFF00"/>
                </a:solidFill>
                <a:ea typeface="+mn-lt"/>
                <a:cs typeface="+mn-lt"/>
              </a:rPr>
              <a:t>Filière : 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Ingénierie Informatique et Réseaux (IIR) – 3ème année</a:t>
            </a:r>
            <a:br>
              <a:rPr lang="fr-FR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dirty="0" err="1">
                <a:solidFill>
                  <a:srgbClr val="FFFF00"/>
                </a:solidFill>
                <a:ea typeface="+mn-lt"/>
                <a:cs typeface="+mn-lt"/>
              </a:rPr>
              <a:t>Année</a:t>
            </a:r>
            <a:r>
              <a:rPr lang="fr-FR" dirty="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fr-FR" dirty="0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universitaire </a:t>
            </a:r>
            <a:r>
              <a:rPr lang="fr-FR" dirty="0">
                <a:solidFill>
                  <a:srgbClr val="FFFF00"/>
                </a:solidFill>
                <a:ea typeface="+mn-lt"/>
                <a:cs typeface="+mn-lt"/>
              </a:rPr>
              <a:t> :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 2025 / 2026</a:t>
            </a:r>
            <a:endParaRPr lang="fr-FR" dirty="0">
              <a:solidFill>
                <a:schemeClr val="bg1"/>
              </a:solidFill>
            </a:endParaRPr>
          </a:p>
          <a:p>
            <a:pPr algn="l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Parchemin : horizontal 7">
            <a:extLst>
              <a:ext uri="{FF2B5EF4-FFF2-40B4-BE49-F238E27FC236}">
                <a16:creationId xmlns:a16="http://schemas.microsoft.com/office/drawing/2014/main" id="{32E6A3C9-5896-5825-23FC-E48A8ECE4110}"/>
              </a:ext>
            </a:extLst>
          </p:cNvPr>
          <p:cNvSpPr/>
          <p:nvPr/>
        </p:nvSpPr>
        <p:spPr>
          <a:xfrm>
            <a:off x="154627" y="2096324"/>
            <a:ext cx="5785920" cy="2513610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000" b="1">
              <a:solidFill>
                <a:schemeClr val="bg1"/>
              </a:solidFill>
            </a:endParaRPr>
          </a:p>
          <a:p>
            <a:pPr algn="ctr"/>
            <a:r>
              <a:rPr lang="fr-FR" sz="4000" b="1" dirty="0" err="1">
                <a:solidFill>
                  <a:schemeClr val="bg1"/>
                </a:solidFill>
              </a:rPr>
              <a:t>ElectroCharge</a:t>
            </a:r>
          </a:p>
          <a:p>
            <a:pPr algn="ctr"/>
            <a:r>
              <a:rPr lang="fr-FR" sz="1600">
                <a:solidFill>
                  <a:schemeClr val="bg1"/>
                </a:solidFill>
              </a:rPr>
              <a:t>Plateforme de gestion des bornes de recharge électrique</a:t>
            </a:r>
            <a:endParaRPr lang="fr-FR" sz="1600">
              <a:solidFill>
                <a:srgbClr val="000000"/>
              </a:solidFill>
            </a:endParaRPr>
          </a:p>
          <a:p>
            <a:pPr algn="ctr"/>
            <a:endParaRPr lang="fr-FR" sz="4000" b="1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texte, Police, conception&#10;&#10;Le contenu généré par l’IA peut être incorrect.">
            <a:extLst>
              <a:ext uri="{FF2B5EF4-FFF2-40B4-BE49-F238E27FC236}">
                <a16:creationId xmlns:a16="http://schemas.microsoft.com/office/drawing/2014/main" id="{6EB9006A-77FE-E0F0-6FC8-15AE4FBA9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" y="2103"/>
            <a:ext cx="2959925" cy="11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6CAFD-268E-DA48-3927-55D2DBD2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966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fr-FR" sz="3600" b="1" dirty="0">
                <a:solidFill>
                  <a:schemeClr val="bg1"/>
                </a:solidFill>
                <a:ea typeface="+mj-lt"/>
                <a:cs typeface="+mj-lt"/>
              </a:rPr>
              <a:t>Pourquoi </a:t>
            </a:r>
            <a:r>
              <a:rPr lang="fr-FR" sz="3600" b="1" dirty="0" err="1">
                <a:solidFill>
                  <a:schemeClr val="bg1"/>
                </a:solidFill>
                <a:ea typeface="+mj-lt"/>
                <a:cs typeface="+mj-lt"/>
              </a:rPr>
              <a:t>ElectroCharge</a:t>
            </a:r>
            <a:r>
              <a:rPr lang="fr-FR" sz="3600" b="1" dirty="0">
                <a:solidFill>
                  <a:schemeClr val="bg1"/>
                </a:solidFill>
                <a:ea typeface="+mj-lt"/>
                <a:cs typeface="+mj-lt"/>
              </a:rPr>
              <a:t> ?</a:t>
            </a:r>
            <a:endParaRPr lang="fr-FR" sz="3600" b="1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907139-F218-8957-4BD6-69679F689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171"/>
            <a:ext cx="10515600" cy="49747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fr-FR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Augmentation des véhicules électriques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Le nombre de véhicules électriques ne cesse d’augmenter, ce qui crée une forte demande en infrastructures de recharge. </a:t>
            </a:r>
            <a:endParaRPr lang="fr-FR" sz="2000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Difficulté de gestion des bornes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La gestion manuelle des bornes devient complexe lorsqu’elles sont nombreuses. </a:t>
            </a:r>
            <a:endParaRPr lang="fr-FR" sz="2000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Absence de suivi en temps réel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Il est difficile de connaître instantanément l’état des bornes. </a:t>
            </a:r>
            <a:endParaRPr lang="fr-FR" sz="2000">
              <a:solidFill>
                <a:schemeClr val="bg1"/>
              </a:solidFill>
            </a:endParaRPr>
          </a:p>
          <a:p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Manque d’un système centralisé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Les informations sont dispersées, ce qui réduit l’efficacité de gestion. </a:t>
            </a:r>
            <a:endParaRPr lang="fr-FR" sz="2000">
              <a:solidFill>
                <a:schemeClr val="bg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636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74010-3D17-6DA5-9F8A-4E1D447F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206"/>
          </a:xfrm>
        </p:spPr>
        <p:txBody>
          <a:bodyPr>
            <a:normAutofit/>
          </a:bodyPr>
          <a:lstStyle/>
          <a:p>
            <a:r>
              <a:rPr lang="fr-FR" sz="3600" b="1">
                <a:solidFill>
                  <a:schemeClr val="bg1"/>
                </a:solidFill>
                <a:ea typeface="+mj-lt"/>
                <a:cs typeface="+mj-lt"/>
              </a:rPr>
              <a:t>Solution proposée :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03AFE8-E830-D52C-AC5A-699E1ABF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590"/>
            <a:ext cx="10515600" cy="492737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Gestion des bornes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L’application permet d’ajouter, modifier et supprimer les bornes facilement. </a:t>
            </a:r>
            <a:endParaRPr lang="fr-FR" sz="2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Suivi des statuts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Chaque borne peut être suivie selon son état (libre, occupée, maintenance). </a:t>
            </a:r>
            <a:endParaRPr lang="fr-F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Gestion des sessions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Les sessions de charge sont enregistrées avec leurs détails. </a:t>
            </a:r>
            <a:endParaRPr lang="fr-F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Centralisation des données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Toutes les informations sont regroupées dans une seule plateforme.</a:t>
            </a:r>
            <a:endParaRPr lang="fr-FR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69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7CF44-0A24-4576-623D-9B654088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349"/>
          </a:xfrm>
        </p:spPr>
        <p:txBody>
          <a:bodyPr>
            <a:normAutofit/>
          </a:bodyPr>
          <a:lstStyle/>
          <a:p>
            <a:r>
              <a:rPr lang="fr-FR" sz="3600" b="1">
                <a:solidFill>
                  <a:schemeClr val="bg1"/>
                </a:solidFill>
              </a:rPr>
              <a:t>Architecture technique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536FAB-7B63-9254-D65F-BAB158793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447"/>
            <a:ext cx="10515600" cy="494551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sz="2000" b="1" dirty="0">
              <a:solidFill>
                <a:srgbClr val="FFFF00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Framework Django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/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Utilisé pour développer la logique backend et gérer les données. 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Base de données SQLite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Permet de stocker les informations de manière structurée. 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Interface Bootstrap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Offre un design simple, moderne et responsive. 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Architecture MVT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Séparation entre modèle, vue et interface utilisateur. </a:t>
            </a:r>
            <a:endParaRPr lang="fr-FR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13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DE207-6E5F-B91F-4085-66EDD6E00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1486"/>
          </a:xfrm>
        </p:spPr>
        <p:txBody>
          <a:bodyPr>
            <a:normAutofit/>
          </a:bodyPr>
          <a:lstStyle/>
          <a:p>
            <a:r>
              <a:rPr lang="fr-FR" sz="3600" b="1">
                <a:solidFill>
                  <a:schemeClr val="bg1"/>
                </a:solidFill>
              </a:rPr>
              <a:t>Modèle de données :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096BE9-A9DC-D5C2-448F-5E945DD58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8262"/>
            <a:ext cx="10515600" cy="507870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Borne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Contient les informations principales comme l’identifiant, l’emplacement et le statut.</a:t>
            </a:r>
          </a:p>
          <a:p>
            <a:pPr marL="0" indent="0">
              <a:buNone/>
            </a:pPr>
            <a:endParaRPr lang="fr-FR" sz="2000">
              <a:solidFill>
                <a:schemeClr val="bg1"/>
              </a:solidFill>
            </a:endParaRPr>
          </a:p>
          <a:p>
            <a:r>
              <a:rPr lang="fr-FR" sz="2000" b="1" dirty="0" err="1">
                <a:solidFill>
                  <a:srgbClr val="FFFF00"/>
                </a:solidFill>
                <a:ea typeface="+mn-lt"/>
                <a:cs typeface="+mn-lt"/>
              </a:rPr>
              <a:t>TypeConnecteur</a:t>
            </a:r>
            <a:r>
              <a:rPr lang="fr-FR" sz="2000" dirty="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 dirty="0">
                <a:solidFill>
                  <a:schemeClr val="bg1"/>
                </a:solidFill>
                <a:ea typeface="+mn-lt"/>
                <a:cs typeface="+mn-lt"/>
              </a:rPr>
              <a:t> Permet de gérer les différents types de prises et vitesses de charge. </a:t>
            </a:r>
            <a:endParaRPr lang="fr-F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 dirty="0" err="1">
                <a:solidFill>
                  <a:srgbClr val="FFFF00"/>
                </a:solidFill>
                <a:ea typeface="+mn-lt"/>
                <a:cs typeface="+mn-lt"/>
              </a:rPr>
              <a:t>SessionCharge</a:t>
            </a:r>
            <a:r>
              <a:rPr lang="fr-FR" sz="2000" dirty="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 dirty="0">
                <a:solidFill>
                  <a:schemeClr val="bg1"/>
                </a:solidFill>
                <a:ea typeface="+mn-lt"/>
                <a:cs typeface="+mn-lt"/>
              </a:rPr>
              <a:t> Enregistre les informations liées aux sessions (durée, énergie, date). </a:t>
            </a:r>
            <a:endParaRPr lang="fr-F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Relations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Une borne peut avoir plusieurs sessions et est liée à un connecteur. </a:t>
            </a:r>
            <a:endParaRPr lang="fr-FR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70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890F5E-698C-AC47-FFF4-C311C2A3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005"/>
          </a:xfrm>
        </p:spPr>
        <p:txBody>
          <a:bodyPr>
            <a:normAutofit/>
          </a:bodyPr>
          <a:lstStyle/>
          <a:p>
            <a:r>
              <a:rPr lang="fr-FR" sz="3600" b="1">
                <a:solidFill>
                  <a:schemeClr val="bg1"/>
                </a:solidFill>
                <a:ea typeface="+mj-lt"/>
                <a:cs typeface="+mj-lt"/>
              </a:rPr>
              <a:t>Interface utilisateur :</a:t>
            </a:r>
            <a:endParaRPr lang="fr-FR" b="1" u="sng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827594-4CFE-ECE0-0AAB-2FD202A94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6"/>
            <a:ext cx="10515600" cy="5113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Interface simple et intuitive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Permet une navigation facile pour l’utilisateur. 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Affichage des statuts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Les bornes sont identifiées par des couleurs selon leur état. 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Fonction de filtrage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Possibilité de rechercher les bornes selon plusieurs critères. </a:t>
            </a:r>
            <a:endParaRPr lang="fr-FR" sz="2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Design responsive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Compatible avec différents types d’écrans.</a:t>
            </a:r>
            <a:endParaRPr lang="fr-FR" sz="200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74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7D678-E6D4-A056-CCDA-5C3EDA39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2213"/>
          </a:xfrm>
        </p:spPr>
        <p:txBody>
          <a:bodyPr>
            <a:normAutofit/>
          </a:bodyPr>
          <a:lstStyle/>
          <a:p>
            <a:r>
              <a:rPr lang="fr-FR" sz="3600" b="1">
                <a:solidFill>
                  <a:schemeClr val="bg1"/>
                </a:solidFill>
                <a:ea typeface="+mj-lt"/>
                <a:cs typeface="+mj-lt"/>
              </a:rPr>
              <a:t>Démonstration de l’application :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8FDD83-B601-B477-9CFD-63034C460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444"/>
            <a:ext cx="10515600" cy="490551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fr-FR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Liste des bornes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Visualisation de toutes les bornes avec leurs informations. </a:t>
            </a:r>
            <a:endParaRPr lang="fr-FR" sz="2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Filtrage dynamique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Recherche rapide selon la ville, puissance ou statut. </a:t>
            </a:r>
            <a:endParaRPr lang="fr-F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Liste des sessions</a:t>
            </a:r>
            <a:r>
              <a:rPr lang="fr-FR" sz="2000" dirty="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Consultation des sessions de charge effectuées. </a:t>
            </a:r>
            <a:endParaRPr lang="fr-F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Liste des connecteurs</a:t>
            </a:r>
            <a:r>
              <a:rPr lang="fr-FR" sz="2000" dirty="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Consultation des types de prises et de leurs vitesses de charge associées.</a:t>
            </a:r>
            <a:endParaRPr lang="fr-FR"/>
          </a:p>
          <a:p>
            <a:pPr marL="0" indent="0">
              <a:buNone/>
            </a:pPr>
            <a:endParaRPr lang="fr-FR" sz="20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Interface admin Django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Gestion complète des données via le panneau d’administration. </a:t>
            </a:r>
            <a:endParaRPr lang="fr-FR">
              <a:solidFill>
                <a:schemeClr val="bg1"/>
              </a:solidFill>
            </a:endParaRP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09666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F49EB-A7DC-C079-F041-27D9DA14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797"/>
          </a:xfrm>
        </p:spPr>
        <p:txBody>
          <a:bodyPr>
            <a:normAutofit/>
          </a:bodyPr>
          <a:lstStyle/>
          <a:p>
            <a:r>
              <a:rPr lang="fr-FR" sz="3600" b="1">
                <a:solidFill>
                  <a:schemeClr val="bg1"/>
                </a:solidFill>
                <a:ea typeface="+mj-lt"/>
                <a:cs typeface="+mj-lt"/>
              </a:rPr>
              <a:t>Conclusion : </a:t>
            </a:r>
            <a:endParaRPr lang="fr-FR" b="1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81E63B-E1BA-7C0B-6803-7479798D2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522"/>
            <a:ext cx="10515600" cy="510344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b="1" dirty="0"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Projet réalisé avec succès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Les objectifs fixés ont été atteints.</a:t>
            </a:r>
            <a:endParaRPr lang="fr-FR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fr-FR" sz="2000" dirty="0">
              <a:solidFill>
                <a:srgbClr val="FFFF00"/>
              </a:solidFill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Application fonctionnelle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 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Le système permet une gestion efficace des bornes. 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ea typeface="+mn-lt"/>
              <a:cs typeface="+mn-lt"/>
            </a:endParaRPr>
          </a:p>
          <a:p>
            <a:r>
              <a:rPr lang="fr-FR" sz="2000" b="1">
                <a:solidFill>
                  <a:srgbClr val="FFFF00"/>
                </a:solidFill>
                <a:ea typeface="+mn-lt"/>
                <a:cs typeface="+mn-lt"/>
              </a:rPr>
              <a:t>Solution évolutive</a:t>
            </a:r>
            <a:r>
              <a:rPr lang="fr-FR" sz="2000">
                <a:solidFill>
                  <a:srgbClr val="FFFF00"/>
                </a:solidFill>
                <a:ea typeface="+mn-lt"/>
                <a:cs typeface="+mn-lt"/>
              </a:rPr>
              <a:t> :</a:t>
            </a:r>
            <a:endParaRPr lang="fr-FR" sz="2000" dirty="0">
              <a:solidFill>
                <a:srgbClr val="FFFF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 Possibilité d’ajouter de nouvelles fonctionnalités à l’avenir.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sz="2000" dirty="0" err="1">
                <a:solidFill>
                  <a:schemeClr val="bg1"/>
                </a:solidFill>
                <a:ea typeface="+mn-lt"/>
                <a:cs typeface="+mn-lt"/>
              </a:rPr>
              <a:t>ElectroCharge</a:t>
            </a:r>
            <a:r>
              <a:rPr lang="fr-FR" sz="2000" dirty="0">
                <a:solidFill>
                  <a:schemeClr val="bg1"/>
                </a:solidFill>
                <a:ea typeface="+mn-lt"/>
                <a:cs typeface="+mn-lt"/>
              </a:rPr>
              <a:t> représente une solution pratique pour la gestion des bornes de recharge électrique.</a:t>
            </a:r>
            <a:endParaRPr lang="fr-FR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1725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84029-3016-325D-787D-0B382949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682" y="2759982"/>
            <a:ext cx="6606638" cy="1335459"/>
          </a:xfrm>
        </p:spPr>
        <p:txBody>
          <a:bodyPr>
            <a:normAutofit fontScale="90000"/>
          </a:bodyPr>
          <a:lstStyle/>
          <a:p>
            <a:r>
              <a:rPr lang="fr-FR" dirty="0"/>
              <a:t>     </a:t>
            </a:r>
            <a:r>
              <a:rPr lang="fr-FR" sz="6000" dirty="0"/>
              <a:t>  </a:t>
            </a:r>
            <a:r>
              <a:rPr lang="fr-FR" sz="6000">
                <a:solidFill>
                  <a:schemeClr val="bg1"/>
                </a:solidFill>
              </a:rPr>
              <a:t>Fin de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8397582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   </vt:lpstr>
      <vt:lpstr>Pourquoi ElectroCharge ?</vt:lpstr>
      <vt:lpstr>Solution proposée :</vt:lpstr>
      <vt:lpstr>Architecture technique :</vt:lpstr>
      <vt:lpstr>Modèle de données :</vt:lpstr>
      <vt:lpstr>Interface utilisateur :</vt:lpstr>
      <vt:lpstr>Démonstration de l’application :</vt:lpstr>
      <vt:lpstr>Conclusion : </vt:lpstr>
      <vt:lpstr>       Fin de présentation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396</cp:revision>
  <dcterms:created xsi:type="dcterms:W3CDTF">2026-05-06T12:41:42Z</dcterms:created>
  <dcterms:modified xsi:type="dcterms:W3CDTF">2026-05-09T13:06:51Z</dcterms:modified>
</cp:coreProperties>
</file>